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0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embeddedFontLst>
    <p:embeddedFont>
      <p:font typeface="Prompt" panose="00000500000000000000" pitchFamily="2" charset="-34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แทนหัวกระดาษ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ตัวแทนวันที่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EEF902-2175-4329-8797-5720EB00C363}" type="datetimeFigureOut">
              <a:rPr lang="th-TH" smtClean="0"/>
              <a:t>08/07/69</a:t>
            </a:fld>
            <a:endParaRPr lang="th-TH"/>
          </a:p>
        </p:txBody>
      </p:sp>
      <p:sp>
        <p:nvSpPr>
          <p:cNvPr id="4" name="ตัวแทนรูปบนสไลด์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ตัวแทนบันทึกย่อ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h-TH"/>
              <a:t>คลิกเพื่อแก้ไขสไตล์ของข้อความต้นแบบ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</a:p>
        </p:txBody>
      </p:sp>
      <p:sp>
        <p:nvSpPr>
          <p:cNvPr id="6" name="ตัวแทนท้ายกระดา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ตัวแทนหมายเลขสไลด์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25122A-79C9-4EC7-BCDF-474D126BBA40}" type="slidenum">
              <a:rPr lang="th-TH" smtClean="0"/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1684587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ไม่ต้องมีบัญชี การฝึกเกิดขึ้นในเบราว์เซอร์ ภาพจากเว็บแคมอยู่ในเครื่องของเรา สิ่งที่อัปโหลดภายหลังคือตัวโมเดลเท่านั้น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คลาส Other สำคัญมาก ถ้าไม่มี AI จะพยายามจับคู่ทุกภาพกับสามท่าเสมอ แม้เป็นพื้นหลังเปล่า และชื่อคลาสต้องพิมพ์ตัวเล็ก-ใหญ่ให้ตรงกัน เพราะต้องพิมพ์อีกครั้งภายหลัง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ต้องอัปโหลดโมเดล ไม่ใช่แค่ส่งออก การโหลดใช้เวลาสักครู่ เป็นเรื่องปกติ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20040"/>
            <a:ext cx="12191695" cy="73152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603504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หัวข้อ 2: ฝึกโมเดล AI ของเราเอง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508760"/>
            <a:ext cx="603504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เป้าหมายวันนี้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108960"/>
            <a:ext cx="603504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ฝึกโมเดล AI ของเราเอง </a:t>
            </a:r>
            <a:br/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ให้ชนะโมเดลสำเร็จรูป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794760"/>
            <a:ext cx="60350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ครั้งที่แล้ว AI ทำให้เราผิดหวัง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วันนี้เราฝึก AI ด้วยมือของเรา ในห้องของเรา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989320"/>
            <a:ext cx="1024128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5989320"/>
            <a:ext cx="1024128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กิจกรรม 4.2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19072" y="5989320"/>
            <a:ext cx="117408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719072" y="5989320"/>
            <a:ext cx="117408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เวลา: 75 นาที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39465" y="5989320"/>
            <a:ext cx="2073859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039465" y="5989320"/>
            <a:ext cx="2073859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อุปกรณ์: คอมพิวเตอร์ที่มีเว็บแคม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59628" y="5989320"/>
            <a:ext cx="3198571" cy="457200"/>
          </a:xfrm>
          <a:prstGeom prst="roundRect">
            <a:avLst>
              <a:gd name="adj" fmla="val 50000"/>
            </a:avLst>
          </a:prstGeom>
          <a:solidFill>
            <a:srgbClr val="E0F2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259628" y="5989320"/>
            <a:ext cx="3198571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เว็บแอป: teachablemachine.withgoogle.com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48272" y="1299894"/>
            <a:ext cx="4974336" cy="4166772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m-recording-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409622"/>
            <a:ext cx="4754880" cy="394731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 Teachable Machine (5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เปิด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teachablemachine.withgoogle.com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Image Project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เลือก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Standard Image Model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068312" y="2278862"/>
            <a:ext cx="4684471" cy="23917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Picture 16" descr="tm-select-image-proje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388590"/>
            <a:ext cx="4465015" cy="2172259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สร้างคลาส 4 คลาส (5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คลาส คือ กลุ่มผลลัพธ์ที่ AI จะฝึกจำแนก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2194560"/>
          <a:ext cx="11094414" cy="2834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158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785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ชื่อคลาส</a:t>
                      </a:r>
                    </a:p>
                  </a:txBody>
                  <a:tcPr marL="164592" marR="164592" anchor="ctr">
                    <a:solidFill>
                      <a:srgbClr val="00968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FFFFFF"/>
                          </a:solidFill>
                          <a:latin typeface="Prompt"/>
                          <a:ea typeface="Prompt"/>
                          <a:cs typeface="Prompt"/>
                        </a:rPr>
                        <a:t>ท่าทาง</a:t>
                      </a:r>
                    </a:p>
                  </a:txBody>
                  <a:tcPr marL="164592" marR="164592" anchor="ctr">
                    <a:solidFill>
                      <a:srgbClr val="00968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Rock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กำมือ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Paper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แบมือ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Scissors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ชูสองนิ้ว</a:t>
                      </a:r>
                    </a:p>
                  </a:txBody>
                  <a:tcPr marL="164592" marR="164592" anchor="ctr">
                    <a:solidFill>
                      <a:srgbClr val="F5F5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1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Other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sz="1600" b="0" i="0">
                          <a:solidFill>
                            <a:srgbClr val="333333"/>
                          </a:solidFill>
                          <a:latin typeface="Prompt"/>
                          <a:ea typeface="Prompt"/>
                          <a:cs typeface="Prompt"/>
                        </a:rPr>
                        <a:t>ภาพพื้นหลัง ไม่มีมือ</a:t>
                      </a:r>
                    </a:p>
                  </a:txBody>
                  <a:tcPr marL="164592" marR="16459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ป้อนรูปภาพเพื่อใช้ฝึก (20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คลิกปุ่ม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Webcam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ข้างคลาส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แสดงท่าทางหน้ากล้อง แล้วคลิก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Record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(กดค้างเพื่อบันทึกต่อเนื่อง)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เก็บภาพ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อย่างน้อย 100-200 ภาพต่อคลาส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เก็บจากหลายมุมหลายตำแหน่ง ในแสง และพื้นหลังจริงของห้อง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จดจำนวนภาพของแต่ละคลาสในกิจกรรม 4.2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68312" y="1511651"/>
            <a:ext cx="4684471" cy="3926137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m-recording-ro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8040" y="1621379"/>
            <a:ext cx="4465015" cy="3706681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ฝึกและทดสอบ (20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578483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578483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Train Model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— อย่าสลับแท็บขณะกำลังฝึก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07158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568321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568321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07158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ดูตัวอย่างทดสอบ: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แถบความมั่นใจ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บอกว่า AI มั่นใจแค่ไหน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396996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558159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558159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396996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แสดงท่าแต่ละแบบ ทำนายถูกหรือไม่ มั่นใจแค่ไหน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86834"/>
            <a:ext cx="6309360" cy="825246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547997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547997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386834"/>
            <a:ext cx="5166360" cy="82524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ถ้าพลาดหรือความมั่นใจต่ำ ให้เก็บภาพเพิ่มสำหรับคลาสนั้นแล้วฝึกใหม่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" y="5513832"/>
            <a:ext cx="6309360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77240" y="5513832"/>
            <a:ext cx="5852160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เติมตารางความมั่นใจในกิจกรรม 4.2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72316" y="1353312"/>
            <a:ext cx="2476462" cy="424281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 descr="tm-confidence-b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2044" y="1463040"/>
            <a:ext cx="2257006" cy="4023359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ส่งออกและโหลดเข้าเกม (10 นาที)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749808" y="1600200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49808" y="1600200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0" y="1417320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คลิก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Export Model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→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Upload my model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450592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49808" y="2633472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450592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คัดลอกลิงก์จากช่อง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"Your sharable link"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483864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749808" y="3666744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49808" y="3666744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63040" y="3483864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กลับไปที่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d.gogoboard.org/rps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วางลิงก์ในช่อง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MODEL URL</a:t>
            </a: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แล้วกด </a:t>
            </a:r>
            <a:r>
              <a:rPr sz="17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517136"/>
            <a:ext cx="6309360" cy="868680"/>
          </a:xfrm>
          <a:prstGeom prst="roundRect">
            <a:avLst>
              <a:gd name="adj" fmla="val 1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749808" y="4700016"/>
            <a:ext cx="502920" cy="502920"/>
          </a:xfrm>
          <a:prstGeom prst="ellipse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9808" y="4700016"/>
            <a:ext cx="502920" cy="5029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517136"/>
            <a:ext cx="516636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17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ชื่อคลาสต้องตรงกันทุกตัวอักษร (Rock, Paper, Scissors)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068312" y="2792873"/>
            <a:ext cx="4684471" cy="1363693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E0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rps-load-custom-mod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8040" y="2902601"/>
            <a:ext cx="4465015" cy="1144237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เปรียบเทียบ แล้วลองทำให้ AI ผิดพลาด (15 นาที)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417320"/>
            <a:ext cx="110944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00695C"/>
                </a:solidFill>
                <a:latin typeface="Prompt"/>
                <a:ea typeface="Prompt"/>
                <a:cs typeface="Prompt"/>
              </a:rPr>
              <a:t>เล่นด้วยโมเดลของเรา แล้วเทียบกับกิจกรรม 4.1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2286000"/>
            <a:ext cx="11094415" cy="3291840"/>
          </a:xfrm>
          <a:prstGeom prst="roundRect">
            <a:avLst>
              <a:gd name="adj" fmla="val 8000"/>
            </a:avLst>
          </a:prstGeom>
          <a:solidFill>
            <a:srgbClr val="F5F5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005840" y="2651760"/>
            <a:ext cx="10180015" cy="2560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เติมตารางเปรียบเทียบความมั่นใจ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โมเดลไหนทำงานได้ดีกว่าในห้องเรียนของเรา เพราะอะไร</a:t>
            </a:r>
          </a:p>
          <a:p>
            <a:pPr marL="310896" indent="-310896">
              <a:lnSpc>
                <a:spcPct val="115000"/>
              </a:lnSpc>
              <a:spcAft>
                <a:spcPts val="16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20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ลองทำให้ AI ผิดพลาด: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 ท่าทาง พื้นหลัง หรือแสงแบบไหนที่ทำให้แม้แต่โมเดลของเราก็พลาด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5486400"/>
            <a:ext cx="11094415" cy="777240"/>
          </a:xfrm>
          <a:prstGeom prst="roundRect">
            <a:avLst>
              <a:gd name="adj" fmla="val 25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10637215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ตารางเปรียบเทียบ + "อะไรทำให้โมเดลของเราพลาด" ในกิจกรรม 4.2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371600" y="822960"/>
            <a:ext cx="9448495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3400" b="1" i="0">
                <a:solidFill>
                  <a:srgbClr val="FFC107"/>
                </a:solidFill>
                <a:latin typeface="Prompt"/>
                <a:ea typeface="Prompt"/>
                <a:cs typeface="Prompt"/>
              </a:rPr>
              <a:t>ประเด็นสำคัญ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20"/>
            <a:ext cx="9997135" cy="1828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คุณภาพของข้อมูลการฝึกสำคัญที่สุด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09647" y="3931920"/>
            <a:ext cx="7772400" cy="2103120"/>
          </a:xfrm>
          <a:prstGeom prst="roundRect">
            <a:avLst>
              <a:gd name="adj" fmla="val 10000"/>
            </a:avLst>
          </a:prstGeom>
          <a:solidFill>
            <a:srgbClr val="007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58287" y="4297680"/>
            <a:ext cx="6675120" cy="1554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ภาพมากพอ หลากหลายพอ และตรงกับสภาพการใช้งานจริง</a:t>
            </a:r>
          </a:p>
          <a:p>
            <a:pPr marL="310896" indent="-310896">
              <a:lnSpc>
                <a:spcPct val="115000"/>
              </a:lnSpc>
              <a:spcAft>
                <a:spcPts val="1000"/>
              </a:spcAft>
            </a:pPr>
            <a:r>
              <a:rPr sz="18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▸  </a:t>
            </a:r>
            <a:r>
              <a:rPr sz="1800" b="0" i="0">
                <a:solidFill>
                  <a:srgbClr val="FFFFFF"/>
                </a:solidFill>
                <a:latin typeface="Prompt"/>
                <a:ea typeface="Prompt"/>
                <a:cs typeface="Prompt"/>
              </a:rPr>
              <a:t>โมเดลของเราพลาดด้วยเหตุผลเดียวกับโมเดลสำเร็จรูป เพียงแต่พลาดน้อยกว่า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80CBC4"/>
                </a:solidFill>
                <a:latin typeface="Prompt"/>
                <a:ea typeface="Prompt"/>
                <a:cs typeface="Prompt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8640" y="502920"/>
            <a:ext cx="82296" cy="566928"/>
          </a:xfrm>
          <a:prstGeom prst="rect">
            <a:avLst/>
          </a:prstGeom>
          <a:solidFill>
            <a:srgbClr val="0096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04672" y="411480"/>
            <a:ext cx="10838383" cy="7772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มาสะท้อนคิดกัน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11094415" cy="2926080"/>
          </a:xfrm>
          <a:prstGeom prst="roundRect">
            <a:avLst>
              <a:gd name="adj" fmla="val 8000"/>
            </a:avLst>
          </a:prstGeom>
          <a:solidFill>
            <a:srgbClr val="FFF8E1"/>
          </a:solidFill>
          <a:ln w="1270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05840" y="1783080"/>
            <a:ext cx="1018001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✎ สมุดกิจกรรม — ตอบคำถามสะท้อนคิด 4 ข้อในกิจกรรม 4.2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2560320"/>
            <a:ext cx="9631375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1.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การฝึก Classification AI มีขั้นตอนอะไรบ้าง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2.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ทำไมต้องใช้ 100-200 ภาพต่อคลาส แทนที่จะใช้แค่ 5-10 ภาพ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3.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โมเดลสำเร็จรูปกับโมเดลที่เราฝึกเองต่างกันอย่างไร</a:t>
            </a:r>
          </a:p>
          <a:p>
            <a:pPr marL="310896" indent="-310896">
              <a:lnSpc>
                <a:spcPct val="115000"/>
              </a:lnSpc>
              <a:spcAft>
                <a:spcPts val="1400"/>
              </a:spcAft>
            </a:pPr>
            <a:r>
              <a:rPr sz="2000" b="1" i="0">
                <a:solidFill>
                  <a:srgbClr val="009688"/>
                </a:solidFill>
                <a:latin typeface="Prompt"/>
                <a:ea typeface="Prompt"/>
                <a:cs typeface="Prompt"/>
              </a:rPr>
              <a:t>4.  </a:t>
            </a:r>
            <a:r>
              <a:rPr sz="2000" b="0" i="0">
                <a:solidFill>
                  <a:srgbClr val="333333"/>
                </a:solidFill>
                <a:latin typeface="Prompt"/>
                <a:ea typeface="Prompt"/>
                <a:cs typeface="Prompt"/>
              </a:rPr>
              <a:t>ถ้าย้ายไปห้องเรียนอื่น เราต้องทำอย่างไรให้โมเดลยังใช้งานได้ดี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473952"/>
            <a:ext cx="1109441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กิจกรรม 4.2 — หัวข้อ 2: ฝึกโมเดล AI ของเราเอง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73952"/>
            <a:ext cx="5486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757575"/>
                </a:solidFill>
                <a:latin typeface="Prompt"/>
                <a:ea typeface="Prompt"/>
                <a:cs typeface="Prompt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ธีมของ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696</Words>
  <Application>Microsoft Office PowerPoint</Application>
  <PresentationFormat>แบบจอกว้าง</PresentationFormat>
  <Paragraphs>92</Paragraphs>
  <Slides>9</Slides>
  <Notes>3</Notes>
  <HiddenSlides>0</HiddenSlides>
  <MMClips>0</MMClips>
  <ScaleCrop>false</ScaleCrop>
  <HeadingPairs>
    <vt:vector size="6" baseType="variant">
      <vt:variant>
        <vt:lpstr>ฟอนต์ที่ถูกใช้</vt:lpstr>
      </vt:variant>
      <vt:variant>
        <vt:i4>4</vt:i4>
      </vt:variant>
      <vt:variant>
        <vt:lpstr>ธีม</vt:lpstr>
      </vt:variant>
      <vt:variant>
        <vt:i4>1</vt:i4>
      </vt:variant>
      <vt:variant>
        <vt:lpstr>ชื่อเรื่องสไลด์</vt:lpstr>
      </vt:variant>
      <vt:variant>
        <vt:i4>9</vt:i4>
      </vt:variant>
    </vt:vector>
  </HeadingPairs>
  <TitlesOfParts>
    <vt:vector size="14" baseType="lpstr">
      <vt:lpstr>Prompt</vt:lpstr>
      <vt:lpstr>Arial</vt:lpstr>
      <vt:lpstr>Calibri</vt:lpstr>
      <vt:lpstr>Aptos</vt:lpstr>
      <vt:lpstr>Office Theme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  <vt:lpstr>งานนำเสนอ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ARNAN SIPITAKIAT</cp:lastModifiedBy>
  <cp:revision>2</cp:revision>
  <dcterms:created xsi:type="dcterms:W3CDTF">2013-01-27T09:14:16Z</dcterms:created>
  <dcterms:modified xsi:type="dcterms:W3CDTF">2026-07-08T08:20:05Z</dcterms:modified>
  <cp:category/>
</cp:coreProperties>
</file>