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0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embeddedFontLst>
    <p:embeddedFont>
      <p:font typeface="Prompt" panose="00000500000000000000" pitchFamily="2" charset="-34"/>
      <p:regular r:id="rId12"/>
      <p:bold r:id="rId13"/>
      <p:italic r:id="rId14"/>
      <p:boldItalic r:id="rId15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2.fntdata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1.fntdata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font" Target="fonts/font4.fntdata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3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ตัวแทนหัวกระดาษ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th-TH"/>
          </a:p>
        </p:txBody>
      </p:sp>
      <p:sp>
        <p:nvSpPr>
          <p:cNvPr id="3" name="ตัวแทนวันที่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1AB7B2F-3F58-4641-8CA4-89330E922F7C}" type="datetimeFigureOut">
              <a:rPr lang="th-TH" smtClean="0"/>
              <a:t>08/07/69</a:t>
            </a:fld>
            <a:endParaRPr lang="th-TH"/>
          </a:p>
        </p:txBody>
      </p:sp>
      <p:sp>
        <p:nvSpPr>
          <p:cNvPr id="4" name="ตัวแทนรูปบนสไลด์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th-TH"/>
          </a:p>
        </p:txBody>
      </p:sp>
      <p:sp>
        <p:nvSpPr>
          <p:cNvPr id="5" name="ตัวแทนบันทึกย่อ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th-TH"/>
              <a:t>คลิกเพื่อแก้ไขสไตล์ของข้อความต้นแบบ</a:t>
            </a:r>
          </a:p>
          <a:p>
            <a:pPr lvl="1"/>
            <a:r>
              <a:rPr lang="th-TH"/>
              <a:t>ระดับที่สอง</a:t>
            </a:r>
          </a:p>
          <a:p>
            <a:pPr lvl="2"/>
            <a:r>
              <a:rPr lang="th-TH"/>
              <a:t>ระดับที่สาม</a:t>
            </a:r>
          </a:p>
          <a:p>
            <a:pPr lvl="3"/>
            <a:r>
              <a:rPr lang="th-TH"/>
              <a:t>ระดับที่สี่</a:t>
            </a:r>
          </a:p>
          <a:p>
            <a:pPr lvl="4"/>
            <a:r>
              <a:rPr lang="th-TH"/>
              <a:t>ระดับที่ห้า</a:t>
            </a:r>
          </a:p>
        </p:txBody>
      </p:sp>
      <p:sp>
        <p:nvSpPr>
          <p:cNvPr id="6" name="ตัวแทนท้ายกระดา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th-TH"/>
          </a:p>
        </p:txBody>
      </p:sp>
      <p:sp>
        <p:nvSpPr>
          <p:cNvPr id="7" name="ตัวแทนหมายเลขสไลด์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7A43531-EE24-4D29-A0F6-A7699099E0BE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324869478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ถ้าไดโนเสาร์กระโดดรัว ๆ จากการเคาะครั้งเดียว ให้ถามกลุ่มว่าตั้งเวลา wait ไว้เท่าไร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การทดสอบในโปรแกรมแก้ไขข้อความก่อน ช่วยแยกคำถาม "ปุ่มถึงคอมพิวเตอร์หรือไม่" ออกจาก "เกมยากหรือไม่"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219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320040"/>
            <a:ext cx="12191695" cy="73152"/>
          </a:xfrm>
          <a:prstGeom prst="rect">
            <a:avLst/>
          </a:prstGeom>
          <a:solidFill>
            <a:srgbClr val="FFC1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603504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1" i="0">
                <a:solidFill>
                  <a:srgbClr val="2196F3"/>
                </a:solidFill>
                <a:latin typeface="Prompt"/>
                <a:ea typeface="Prompt"/>
                <a:cs typeface="Prompt"/>
              </a:rPr>
              <a:t>หัวข้อ 4: สร้างเกมคอนโทรลเลอร์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508760"/>
            <a:ext cx="6035040" cy="1554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4000" b="1" i="0">
                <a:solidFill>
                  <a:srgbClr val="333333"/>
                </a:solidFill>
                <a:latin typeface="Prompt"/>
                <a:ea typeface="Prompt"/>
                <a:cs typeface="Prompt"/>
              </a:rPr>
              <a:t>เป้าหมายวันนี้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108960"/>
            <a:ext cx="603504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100" b="1" i="0">
                <a:solidFill>
                  <a:srgbClr val="1565C0"/>
                </a:solidFill>
                <a:latin typeface="Prompt"/>
                <a:ea typeface="Prompt"/>
                <a:cs typeface="Prompt"/>
              </a:rPr>
              <a:t>สร้างเกมคอนโทรลเลอร์</a:t>
            </a:r>
            <a:br/>
            <a:r>
              <a:rPr sz="2100" b="1" i="0">
                <a:solidFill>
                  <a:srgbClr val="1565C0"/>
                </a:solidFill>
                <a:latin typeface="Prompt"/>
                <a:ea typeface="Prompt"/>
                <a:cs typeface="Prompt"/>
              </a:rPr>
              <a:t>ที่เล่นเกมคอมพิวเตอร์ได้จริง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794760"/>
            <a:ext cx="6035040" cy="1828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310896" indent="-310896">
              <a:lnSpc>
                <a:spcPct val="115000"/>
              </a:lnSpc>
              <a:spcAft>
                <a:spcPts val="1000"/>
              </a:spcAft>
            </a:pPr>
            <a:r>
              <a:rPr sz="1800" b="1" i="0">
                <a:solidFill>
                  <a:srgbClr val="2196F3"/>
                </a:solidFill>
                <a:latin typeface="Prompt"/>
                <a:ea typeface="Prompt"/>
                <a:cs typeface="Prompt"/>
              </a:rPr>
              <a:t>▸  </a:t>
            </a:r>
            <a:r>
              <a:rPr sz="1800" b="0" i="0">
                <a:solidFill>
                  <a:srgbClr val="333333"/>
                </a:solidFill>
                <a:latin typeface="Prompt"/>
                <a:ea typeface="Prompt"/>
                <a:cs typeface="Prompt"/>
              </a:rPr>
              <a:t>เคาะกระดาษแข็ง → ไดโนเสาร์กระโดด</a:t>
            </a:r>
          </a:p>
          <a:p>
            <a:pPr marL="310896" indent="-310896">
              <a:lnSpc>
                <a:spcPct val="115000"/>
              </a:lnSpc>
              <a:spcAft>
                <a:spcPts val="1000"/>
              </a:spcAft>
            </a:pPr>
            <a:r>
              <a:rPr sz="1800" b="1" i="0">
                <a:solidFill>
                  <a:srgbClr val="2196F3"/>
                </a:solidFill>
                <a:latin typeface="Prompt"/>
                <a:ea typeface="Prompt"/>
                <a:cs typeface="Prompt"/>
              </a:rPr>
              <a:t>▸  </a:t>
            </a:r>
            <a:r>
              <a:rPr sz="1800" b="0" i="0">
                <a:solidFill>
                  <a:srgbClr val="333333"/>
                </a:solidFill>
                <a:latin typeface="Prompt"/>
                <a:ea typeface="Prompt"/>
                <a:cs typeface="Prompt"/>
              </a:rPr>
              <a:t>เซ็นเซอร์ของเราจะกลายเป็นเกมคอนโทรลเลอร์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5989320"/>
            <a:ext cx="1024128" cy="457200"/>
          </a:xfrm>
          <a:prstGeom prst="roundRect">
            <a:avLst>
              <a:gd name="adj" fmla="val 50000"/>
            </a:avLst>
          </a:prstGeom>
          <a:solidFill>
            <a:srgbClr val="E3F2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48640" y="5989320"/>
            <a:ext cx="1024128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100" b="1" i="0">
                <a:solidFill>
                  <a:srgbClr val="1565C0"/>
                </a:solidFill>
                <a:latin typeface="Prompt"/>
                <a:ea typeface="Prompt"/>
                <a:cs typeface="Prompt"/>
              </a:rPr>
              <a:t>กิจกรรม 2.4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719072" y="5989320"/>
            <a:ext cx="1174089" cy="457200"/>
          </a:xfrm>
          <a:prstGeom prst="roundRect">
            <a:avLst>
              <a:gd name="adj" fmla="val 50000"/>
            </a:avLst>
          </a:prstGeom>
          <a:solidFill>
            <a:srgbClr val="E3F2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719072" y="5989320"/>
            <a:ext cx="1174089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100" b="1" i="0">
                <a:solidFill>
                  <a:srgbClr val="1565C0"/>
                </a:solidFill>
                <a:latin typeface="Prompt"/>
                <a:ea typeface="Prompt"/>
                <a:cs typeface="Prompt"/>
              </a:rPr>
              <a:t>เวลา: 60 นาที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039465" y="5989320"/>
            <a:ext cx="4923129" cy="457200"/>
          </a:xfrm>
          <a:prstGeom prst="roundRect">
            <a:avLst>
              <a:gd name="adj" fmla="val 50000"/>
            </a:avLst>
          </a:prstGeom>
          <a:solidFill>
            <a:srgbClr val="E3F2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039465" y="5989320"/>
            <a:ext cx="4923129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100" b="1" i="0">
                <a:solidFill>
                  <a:srgbClr val="1565C0"/>
                </a:solidFill>
                <a:latin typeface="Prompt"/>
                <a:ea typeface="Prompt"/>
                <a:cs typeface="Prompt"/>
              </a:rPr>
              <a:t>อุปกรณ์: GoGo Board เซ็นเซอร์วัดการสั่นสะเทือน กระดาษแข็ง เทป คอมพิวเตอร์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08898" y="5989320"/>
            <a:ext cx="2148840" cy="457200"/>
          </a:xfrm>
          <a:prstGeom prst="roundRect">
            <a:avLst>
              <a:gd name="adj" fmla="val 50000"/>
            </a:avLst>
          </a:prstGeom>
          <a:solidFill>
            <a:srgbClr val="E3F2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108898" y="5989320"/>
            <a:ext cx="214884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100" b="1" i="0">
                <a:solidFill>
                  <a:srgbClr val="1565C0"/>
                </a:solidFill>
                <a:latin typeface="Prompt"/>
                <a:ea typeface="Prompt"/>
                <a:cs typeface="Prompt"/>
              </a:rPr>
              <a:t>เกม: d.gogoboard.org/dino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748272" y="1712938"/>
            <a:ext cx="4974336" cy="334068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7" name="Picture 16" descr="dino-game-vibration-controll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0" y="1822666"/>
            <a:ext cx="4754880" cy="3121228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48640" y="502920"/>
            <a:ext cx="82296" cy="566928"/>
          </a:xfrm>
          <a:prstGeom prst="rect">
            <a:avLst/>
          </a:prstGeom>
          <a:solidFill>
            <a:srgbClr val="219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04672" y="411480"/>
            <a:ext cx="10838383" cy="7772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1" i="0">
                <a:solidFill>
                  <a:srgbClr val="333333"/>
                </a:solidFill>
                <a:latin typeface="Prompt"/>
                <a:ea typeface="Prompt"/>
                <a:cs typeface="Prompt"/>
              </a:rPr>
              <a:t>เส้นทางของสัญญาณ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17320"/>
            <a:ext cx="603504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100" b="1" i="0">
                <a:solidFill>
                  <a:srgbClr val="1565C0"/>
                </a:solidFill>
                <a:latin typeface="Prompt"/>
                <a:ea typeface="Prompt"/>
                <a:cs typeface="Prompt"/>
              </a:rPr>
              <a:t>เซ็นเซอร์ → บล็อกคำสั่ง If → ปุ่มคีย์บอร์ด → เกมทำงานตาม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377440"/>
            <a:ext cx="6035040" cy="3291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310896" indent="-310896">
              <a:lnSpc>
                <a:spcPct val="115000"/>
              </a:lnSpc>
              <a:spcAft>
                <a:spcPts val="1400"/>
              </a:spcAft>
            </a:pPr>
            <a:r>
              <a:rPr sz="1900" b="1" i="0">
                <a:solidFill>
                  <a:srgbClr val="2196F3"/>
                </a:solidFill>
                <a:latin typeface="Prompt"/>
                <a:ea typeface="Prompt"/>
                <a:cs typeface="Prompt"/>
              </a:rPr>
              <a:t>▸  </a:t>
            </a:r>
            <a:r>
              <a:rPr sz="1900" b="0" i="0">
                <a:solidFill>
                  <a:srgbClr val="333333"/>
                </a:solidFill>
                <a:latin typeface="Prompt"/>
                <a:ea typeface="Prompt"/>
                <a:cs typeface="Prompt"/>
              </a:rPr>
              <a:t>เมื่อต่อผ่าน USB แล้ว GoGo Board จำลองตัวเป็น</a:t>
            </a:r>
            <a:r>
              <a:rPr sz="1900" b="1" i="0">
                <a:solidFill>
                  <a:srgbClr val="333333"/>
                </a:solidFill>
                <a:latin typeface="Prompt"/>
                <a:ea typeface="Prompt"/>
                <a:cs typeface="Prompt"/>
              </a:rPr>
              <a:t>แป้นพิมพ์</a:t>
            </a:r>
            <a:r>
              <a:rPr sz="1900" b="0" i="0">
                <a:solidFill>
                  <a:srgbClr val="333333"/>
                </a:solidFill>
                <a:latin typeface="Prompt"/>
                <a:ea typeface="Prompt"/>
                <a:cs typeface="Prompt"/>
              </a:rPr>
              <a:t>ได้</a:t>
            </a:r>
          </a:p>
          <a:p>
            <a:pPr marL="310896" indent="-310896">
              <a:lnSpc>
                <a:spcPct val="115000"/>
              </a:lnSpc>
              <a:spcAft>
                <a:spcPts val="1400"/>
              </a:spcAft>
            </a:pPr>
            <a:r>
              <a:rPr sz="1900" b="1" i="0">
                <a:solidFill>
                  <a:srgbClr val="2196F3"/>
                </a:solidFill>
                <a:latin typeface="Prompt"/>
                <a:ea typeface="Prompt"/>
                <a:cs typeface="Prompt"/>
              </a:rPr>
              <a:t>▸  </a:t>
            </a:r>
            <a:r>
              <a:rPr sz="1900" b="0" i="0">
                <a:solidFill>
                  <a:srgbClr val="333333"/>
                </a:solidFill>
                <a:latin typeface="Prompt"/>
                <a:ea typeface="Prompt"/>
                <a:cs typeface="Prompt"/>
              </a:rPr>
              <a:t>การส่งปุ่มกดเป็นเอาต์พุตอีกแบบหนึ่ง เหมือนการเปิด LED</a:t>
            </a:r>
          </a:p>
          <a:p>
            <a:pPr marL="310896" indent="-310896">
              <a:lnSpc>
                <a:spcPct val="115000"/>
              </a:lnSpc>
              <a:spcAft>
                <a:spcPts val="1400"/>
              </a:spcAft>
            </a:pPr>
            <a:r>
              <a:rPr sz="1900" b="1" i="0">
                <a:solidFill>
                  <a:srgbClr val="2196F3"/>
                </a:solidFill>
                <a:latin typeface="Prompt"/>
                <a:ea typeface="Prompt"/>
                <a:cs typeface="Prompt"/>
              </a:rPr>
              <a:t>▸  </a:t>
            </a:r>
            <a:r>
              <a:rPr sz="1900" b="0" i="0">
                <a:solidFill>
                  <a:srgbClr val="333333"/>
                </a:solidFill>
                <a:latin typeface="Prompt"/>
                <a:ea typeface="Prompt"/>
                <a:cs typeface="Prompt"/>
              </a:rPr>
              <a:t>If [เซ็นเซอร์ตรวจจับได้] then [ส่งปุ่มคีย์บอร์ด]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793992" y="2726358"/>
            <a:ext cx="4958791" cy="1679603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diagram-sensor-to-game-cha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03720" y="2836086"/>
            <a:ext cx="4739335" cy="1460147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48640" y="6473952"/>
            <a:ext cx="11094415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757575"/>
                </a:solidFill>
                <a:latin typeface="Prompt"/>
                <a:ea typeface="Prompt"/>
                <a:cs typeface="Prompt"/>
              </a:rPr>
              <a:t>กิจกรรม 2.4 — หัวข้อ 4: สร้างเกมคอนโทรลเลอร์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94415" y="6473952"/>
            <a:ext cx="54864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757575"/>
                </a:solidFill>
                <a:latin typeface="Prompt"/>
                <a:ea typeface="Prompt"/>
                <a:cs typeface="Prompt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48640" y="502920"/>
            <a:ext cx="82296" cy="566928"/>
          </a:xfrm>
          <a:prstGeom prst="rect">
            <a:avLst/>
          </a:prstGeom>
          <a:solidFill>
            <a:srgbClr val="219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04672" y="411480"/>
            <a:ext cx="10838383" cy="7772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1" i="0">
                <a:solidFill>
                  <a:srgbClr val="333333"/>
                </a:solidFill>
                <a:latin typeface="Prompt"/>
                <a:ea typeface="Prompt"/>
                <a:cs typeface="Prompt"/>
              </a:rPr>
              <a:t>สร้างแป้นเคาะ (10 นาที)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417320"/>
            <a:ext cx="6309360" cy="825246"/>
          </a:xfrm>
          <a:prstGeom prst="roundRect">
            <a:avLst>
              <a:gd name="adj" fmla="val 18000"/>
            </a:avLst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749808" y="1578483"/>
            <a:ext cx="502920" cy="502920"/>
          </a:xfrm>
          <a:prstGeom prst="ellipse">
            <a:avLst/>
          </a:prstGeom>
          <a:solidFill>
            <a:srgbClr val="219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49808" y="1578483"/>
            <a:ext cx="50292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FFFFFF"/>
                </a:solidFill>
                <a:latin typeface="Prompt"/>
                <a:ea typeface="Prompt"/>
                <a:cs typeface="Prompt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63040" y="1417320"/>
            <a:ext cx="5166360" cy="82524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700" b="0" i="0">
                <a:solidFill>
                  <a:srgbClr val="333333"/>
                </a:solidFill>
                <a:latin typeface="Prompt"/>
                <a:ea typeface="Prompt"/>
                <a:cs typeface="Prompt"/>
              </a:rPr>
              <a:t>ต่อ</a:t>
            </a:r>
            <a:r>
              <a:rPr sz="1700" b="1" i="0">
                <a:solidFill>
                  <a:srgbClr val="333333"/>
                </a:solidFill>
                <a:latin typeface="Prompt"/>
                <a:ea typeface="Prompt"/>
                <a:cs typeface="Prompt"/>
              </a:rPr>
              <a:t>เซ็นเซอร์วัดการสั่นสะเทือน</a:t>
            </a:r>
            <a:r>
              <a:rPr sz="1700" b="0" i="0">
                <a:solidFill>
                  <a:srgbClr val="333333"/>
                </a:solidFill>
                <a:latin typeface="Prompt"/>
                <a:ea typeface="Prompt"/>
                <a:cs typeface="Prompt"/>
              </a:rPr>
              <a:t>เข้ากับพอร์ตอินพุต 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407158"/>
            <a:ext cx="6309360" cy="825246"/>
          </a:xfrm>
          <a:prstGeom prst="roundRect">
            <a:avLst>
              <a:gd name="adj" fmla="val 18000"/>
            </a:avLst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749808" y="2568321"/>
            <a:ext cx="502920" cy="502920"/>
          </a:xfrm>
          <a:prstGeom prst="ellipse">
            <a:avLst/>
          </a:prstGeom>
          <a:solidFill>
            <a:srgbClr val="219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49808" y="2568321"/>
            <a:ext cx="50292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FFFFFF"/>
                </a:solidFill>
                <a:latin typeface="Prompt"/>
                <a:ea typeface="Prompt"/>
                <a:cs typeface="Prompt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3040" y="2407158"/>
            <a:ext cx="5166360" cy="82524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700" b="0" i="0">
                <a:solidFill>
                  <a:srgbClr val="333333"/>
                </a:solidFill>
                <a:latin typeface="Prompt"/>
                <a:ea typeface="Prompt"/>
                <a:cs typeface="Prompt"/>
              </a:rPr>
              <a:t>ติดเซ็นเซอร์บนกระดาษแข็งด้วยเทป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3396996"/>
            <a:ext cx="6309360" cy="825246"/>
          </a:xfrm>
          <a:prstGeom prst="roundRect">
            <a:avLst>
              <a:gd name="adj" fmla="val 18000"/>
            </a:avLst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749808" y="3558159"/>
            <a:ext cx="502920" cy="502920"/>
          </a:xfrm>
          <a:prstGeom prst="ellipse">
            <a:avLst/>
          </a:prstGeom>
          <a:solidFill>
            <a:srgbClr val="219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49808" y="3558159"/>
            <a:ext cx="50292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FFFFFF"/>
                </a:solidFill>
                <a:latin typeface="Prompt"/>
                <a:ea typeface="Prompt"/>
                <a:cs typeface="Prompt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63040" y="3396996"/>
            <a:ext cx="5166360" cy="82524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700" b="0" i="0">
                <a:solidFill>
                  <a:srgbClr val="333333"/>
                </a:solidFill>
                <a:latin typeface="Prompt"/>
                <a:ea typeface="Prompt"/>
                <a:cs typeface="Prompt"/>
              </a:rPr>
              <a:t>พลิกกระดาษแข็งให้เซ็นเซอร์</a:t>
            </a:r>
            <a:r>
              <a:rPr sz="1700" b="1" i="0">
                <a:solidFill>
                  <a:srgbClr val="333333"/>
                </a:solidFill>
                <a:latin typeface="Prompt"/>
                <a:ea typeface="Prompt"/>
                <a:cs typeface="Prompt"/>
              </a:rPr>
              <a:t>คว่ำลง</a:t>
            </a:r>
            <a:r>
              <a:rPr sz="1700" b="0" i="0">
                <a:solidFill>
                  <a:srgbClr val="333333"/>
                </a:solidFill>
                <a:latin typeface="Prompt"/>
                <a:ea typeface="Prompt"/>
                <a:cs typeface="Prompt"/>
              </a:rPr>
              <a:t>บนโต๊ะ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4386834"/>
            <a:ext cx="6309360" cy="825246"/>
          </a:xfrm>
          <a:prstGeom prst="roundRect">
            <a:avLst>
              <a:gd name="adj" fmla="val 18000"/>
            </a:avLst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749808" y="4547997"/>
            <a:ext cx="502920" cy="502920"/>
          </a:xfrm>
          <a:prstGeom prst="ellipse">
            <a:avLst/>
          </a:prstGeom>
          <a:solidFill>
            <a:srgbClr val="219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49808" y="4547997"/>
            <a:ext cx="50292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FFFFFF"/>
                </a:solidFill>
                <a:latin typeface="Prompt"/>
                <a:ea typeface="Prompt"/>
                <a:cs typeface="Prompt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63040" y="4386834"/>
            <a:ext cx="5166360" cy="82524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700" b="0" i="0">
                <a:solidFill>
                  <a:srgbClr val="333333"/>
                </a:solidFill>
                <a:latin typeface="Prompt"/>
                <a:ea typeface="Prompt"/>
                <a:cs typeface="Prompt"/>
              </a:rPr>
              <a:t>เคาะแล้วสังเกตค่าบนจอ LCD — เคาะที่ตำแหน่ง</a:t>
            </a:r>
            <a:r>
              <a:rPr sz="1700" b="1" i="0">
                <a:solidFill>
                  <a:srgbClr val="333333"/>
                </a:solidFill>
                <a:latin typeface="Prompt"/>
                <a:ea typeface="Prompt"/>
                <a:cs typeface="Prompt"/>
              </a:rPr>
              <a:t>ห่างจากตัวเซ็นเซอร์เล็กน้อย</a:t>
            </a:r>
            <a:r>
              <a:rPr sz="1700" b="0" i="0">
                <a:solidFill>
                  <a:srgbClr val="333333"/>
                </a:solidFill>
                <a:latin typeface="Prompt"/>
                <a:ea typeface="Prompt"/>
                <a:cs typeface="Prompt"/>
              </a:rPr>
              <a:t> ไม่กดทับบนตัวเซ็นเซอร์โดยตรง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" y="5513832"/>
            <a:ext cx="6309360" cy="777240"/>
          </a:xfrm>
          <a:prstGeom prst="roundRect">
            <a:avLst>
              <a:gd name="adj" fmla="val 25000"/>
            </a:avLst>
          </a:prstGeom>
          <a:solidFill>
            <a:srgbClr val="FFF8E1"/>
          </a:solidFill>
          <a:ln w="12700">
            <a:solidFill>
              <a:srgbClr val="FFC10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777240" y="5513832"/>
            <a:ext cx="5852160" cy="7772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310896" indent="-310896" algn="l">
              <a:lnSpc>
                <a:spcPct val="100000"/>
              </a:lnSpc>
              <a:spcAft>
                <a:spcPts val="0"/>
              </a:spcAft>
            </a:pPr>
            <a:r>
              <a:rPr sz="1500" b="0" i="0">
                <a:solidFill>
                  <a:srgbClr val="333333"/>
                </a:solidFill>
                <a:latin typeface="Prompt"/>
                <a:ea typeface="Prompt"/>
                <a:cs typeface="Prompt"/>
              </a:rPr>
              <a:t>✎ สมุดกิจกรรม — จดค่าเมื่ออยู่นิ่งและค่าเมื่อเคาะ ในกิจกรรม 2.4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068312" y="2109143"/>
            <a:ext cx="4684471" cy="273115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3" name="Picture 22" descr="vibration-sensor-facedow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78040" y="2218871"/>
            <a:ext cx="4465015" cy="2511698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548640" y="6473952"/>
            <a:ext cx="11094415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757575"/>
                </a:solidFill>
                <a:latin typeface="Prompt"/>
                <a:ea typeface="Prompt"/>
                <a:cs typeface="Prompt"/>
              </a:rPr>
              <a:t>กิจกรรม 2.4 — หัวข้อ 4: สร้างเกมคอนโทรลเลอร์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94415" y="6473952"/>
            <a:ext cx="54864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757575"/>
                </a:solidFill>
                <a:latin typeface="Prompt"/>
                <a:ea typeface="Prompt"/>
                <a:cs typeface="Prompt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48640" y="502920"/>
            <a:ext cx="82296" cy="566928"/>
          </a:xfrm>
          <a:prstGeom prst="rect">
            <a:avLst/>
          </a:prstGeom>
          <a:solidFill>
            <a:srgbClr val="219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04672" y="411480"/>
            <a:ext cx="10838383" cy="7772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1" i="0">
                <a:solidFill>
                  <a:srgbClr val="333333"/>
                </a:solidFill>
                <a:latin typeface="Prompt"/>
                <a:ea typeface="Prompt"/>
                <a:cs typeface="Prompt"/>
              </a:rPr>
              <a:t>เลือกค่าเกณฑ์ (10 นาที)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17320"/>
            <a:ext cx="11094415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100" b="1" i="0">
                <a:solidFill>
                  <a:srgbClr val="1565C0"/>
                </a:solidFill>
                <a:latin typeface="Prompt"/>
                <a:ea typeface="Prompt"/>
                <a:cs typeface="Prompt"/>
              </a:rPr>
              <a:t>ค่าเกณฑ์ คือ ค่าจุดแบ่งที่เราเลือกเอง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2286000"/>
            <a:ext cx="11094415" cy="3291840"/>
          </a:xfrm>
          <a:prstGeom prst="roundRect">
            <a:avLst>
              <a:gd name="adj" fmla="val 8000"/>
            </a:avLst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05840" y="2651760"/>
            <a:ext cx="10180015" cy="2560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310896" indent="-310896">
              <a:lnSpc>
                <a:spcPct val="115000"/>
              </a:lnSpc>
              <a:spcAft>
                <a:spcPts val="1600"/>
              </a:spcAft>
            </a:pPr>
            <a:r>
              <a:rPr sz="2000" b="1" i="0">
                <a:solidFill>
                  <a:srgbClr val="2196F3"/>
                </a:solidFill>
                <a:latin typeface="Prompt"/>
                <a:ea typeface="Prompt"/>
                <a:cs typeface="Prompt"/>
              </a:rPr>
              <a:t>▸  </a:t>
            </a:r>
            <a:r>
              <a:rPr sz="2000" b="0" i="0">
                <a:solidFill>
                  <a:srgbClr val="333333"/>
                </a:solidFill>
                <a:latin typeface="Prompt"/>
                <a:ea typeface="Prompt"/>
                <a:cs typeface="Prompt"/>
              </a:rPr>
              <a:t>โซนสีแบ่งเป็น 3 โซนตายตัว แต่ค่าเกณฑ์เลือกได้</a:t>
            </a:r>
            <a:r>
              <a:rPr sz="2000" b="1" i="0">
                <a:solidFill>
                  <a:srgbClr val="333333"/>
                </a:solidFill>
                <a:latin typeface="Prompt"/>
                <a:ea typeface="Prompt"/>
                <a:cs typeface="Prompt"/>
              </a:rPr>
              <a:t>ทุกค่า</a:t>
            </a:r>
          </a:p>
          <a:p>
            <a:pPr marL="310896" indent="-310896">
              <a:lnSpc>
                <a:spcPct val="115000"/>
              </a:lnSpc>
              <a:spcAft>
                <a:spcPts val="1600"/>
              </a:spcAft>
            </a:pPr>
            <a:r>
              <a:rPr sz="2000" b="1" i="0">
                <a:solidFill>
                  <a:srgbClr val="2196F3"/>
                </a:solidFill>
                <a:latin typeface="Prompt"/>
                <a:ea typeface="Prompt"/>
                <a:cs typeface="Prompt"/>
              </a:rPr>
              <a:t>▸  </a:t>
            </a:r>
            <a:r>
              <a:rPr sz="2000" b="0" i="0">
                <a:solidFill>
                  <a:srgbClr val="333333"/>
                </a:solidFill>
                <a:latin typeface="Prompt"/>
                <a:ea typeface="Prompt"/>
                <a:cs typeface="Prompt"/>
              </a:rPr>
              <a:t>ใช้ค่ากึ่งกลางระหว่างค่าเมื่ออยู่นิ่งกับค่าเมื่อเคาะ</a:t>
            </a:r>
          </a:p>
          <a:p>
            <a:pPr marL="310896" indent="-310896">
              <a:lnSpc>
                <a:spcPct val="115000"/>
              </a:lnSpc>
              <a:spcAft>
                <a:spcPts val="1600"/>
              </a:spcAft>
            </a:pPr>
            <a:r>
              <a:rPr sz="2000" b="1" i="0">
                <a:solidFill>
                  <a:srgbClr val="2196F3"/>
                </a:solidFill>
                <a:latin typeface="Prompt"/>
                <a:ea typeface="Prompt"/>
                <a:cs typeface="Prompt"/>
              </a:rPr>
              <a:t>▸  </a:t>
            </a:r>
            <a:r>
              <a:rPr sz="2000" b="0" i="0">
                <a:solidFill>
                  <a:srgbClr val="333333"/>
                </a:solidFill>
                <a:latin typeface="Prompt"/>
                <a:ea typeface="Prompt"/>
                <a:cs typeface="Prompt"/>
              </a:rPr>
              <a:t>เช่น อยู่นิ่งเท่ากับ 0 เคาะเท่ากับ 600 → ค่าเกณฑ์เท่ากับ 300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5486400"/>
            <a:ext cx="11094415" cy="777240"/>
          </a:xfrm>
          <a:prstGeom prst="roundRect">
            <a:avLst>
              <a:gd name="adj" fmla="val 25000"/>
            </a:avLst>
          </a:prstGeom>
          <a:solidFill>
            <a:srgbClr val="FFF8E1"/>
          </a:solidFill>
          <a:ln w="12700">
            <a:solidFill>
              <a:srgbClr val="FFC10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7240" y="5486400"/>
            <a:ext cx="10637215" cy="7772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310896" indent="-310896" algn="l">
              <a:lnSpc>
                <a:spcPct val="100000"/>
              </a:lnSpc>
              <a:spcAft>
                <a:spcPts val="0"/>
              </a:spcAft>
            </a:pPr>
            <a:r>
              <a:rPr sz="1500" b="0" i="0">
                <a:solidFill>
                  <a:srgbClr val="333333"/>
                </a:solidFill>
                <a:latin typeface="Prompt"/>
                <a:ea typeface="Prompt"/>
                <a:cs typeface="Prompt"/>
              </a:rPr>
              <a:t>✎ สมุดกิจกรรม — เขียนค่าเกณฑ์ที่เลือกในกิจกรรม 2.4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473952"/>
            <a:ext cx="11094415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757575"/>
                </a:solidFill>
                <a:latin typeface="Prompt"/>
                <a:ea typeface="Prompt"/>
                <a:cs typeface="Prompt"/>
              </a:rPr>
              <a:t>กิจกรรม 2.4 — หัวข้อ 4: สร้างเกมคอนโทรลเลอร์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94415" y="6473952"/>
            <a:ext cx="54864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757575"/>
                </a:solidFill>
                <a:latin typeface="Prompt"/>
                <a:ea typeface="Prompt"/>
                <a:cs typeface="Prompt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48640" y="502920"/>
            <a:ext cx="82296" cy="566928"/>
          </a:xfrm>
          <a:prstGeom prst="rect">
            <a:avLst/>
          </a:prstGeom>
          <a:solidFill>
            <a:srgbClr val="219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04672" y="411480"/>
            <a:ext cx="10838383" cy="7772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1" i="0">
                <a:solidFill>
                  <a:srgbClr val="333333"/>
                </a:solidFill>
                <a:latin typeface="Prompt"/>
                <a:ea typeface="Prompt"/>
                <a:cs typeface="Prompt"/>
              </a:rPr>
              <a:t>เขียนโค้ด (15 นาที)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417320"/>
            <a:ext cx="6309360" cy="868680"/>
          </a:xfrm>
          <a:prstGeom prst="roundRect">
            <a:avLst>
              <a:gd name="adj" fmla="val 18000"/>
            </a:avLst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749808" y="1600200"/>
            <a:ext cx="502920" cy="502920"/>
          </a:xfrm>
          <a:prstGeom prst="ellipse">
            <a:avLst/>
          </a:prstGeom>
          <a:solidFill>
            <a:srgbClr val="219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49808" y="1600200"/>
            <a:ext cx="50292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FFFFFF"/>
                </a:solidFill>
                <a:latin typeface="Prompt"/>
                <a:ea typeface="Prompt"/>
                <a:cs typeface="Prompt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63040" y="1417320"/>
            <a:ext cx="5166360" cy="8686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700" b="0" i="0">
                <a:solidFill>
                  <a:srgbClr val="333333"/>
                </a:solidFill>
                <a:latin typeface="Prompt"/>
                <a:ea typeface="Prompt"/>
                <a:cs typeface="Prompt"/>
              </a:rPr>
              <a:t>สร้าง: </a:t>
            </a:r>
            <a:r>
              <a:rPr sz="1700" b="1" i="0">
                <a:solidFill>
                  <a:srgbClr val="333333"/>
                </a:solidFill>
                <a:latin typeface="Prompt"/>
                <a:ea typeface="Prompt"/>
                <a:cs typeface="Prompt"/>
              </a:rPr>
              <a:t>If</a:t>
            </a:r>
            <a:r>
              <a:rPr sz="1700" b="0" i="0">
                <a:solidFill>
                  <a:srgbClr val="333333"/>
                </a:solidFill>
                <a:latin typeface="Prompt"/>
                <a:ea typeface="Prompt"/>
                <a:cs typeface="Prompt"/>
              </a:rPr>
              <a:t> ตรวจจับการสั่นสะเทือนได้ </a:t>
            </a:r>
            <a:r>
              <a:rPr sz="1700" b="1" i="0">
                <a:solidFill>
                  <a:srgbClr val="333333"/>
                </a:solidFill>
                <a:latin typeface="Prompt"/>
                <a:ea typeface="Prompt"/>
                <a:cs typeface="Prompt"/>
              </a:rPr>
              <a:t>then</a:t>
            </a:r>
            <a:r>
              <a:rPr sz="1700" b="0" i="0">
                <a:solidFill>
                  <a:srgbClr val="333333"/>
                </a:solidFill>
                <a:latin typeface="Prompt"/>
                <a:ea typeface="Prompt"/>
                <a:cs typeface="Prompt"/>
              </a:rPr>
              <a:t> ส่งปุ่ม </a:t>
            </a:r>
            <a:r>
              <a:rPr sz="1700" b="1" i="0">
                <a:solidFill>
                  <a:srgbClr val="333333"/>
                </a:solidFill>
                <a:latin typeface="Prompt"/>
                <a:ea typeface="Prompt"/>
                <a:cs typeface="Prompt"/>
              </a:rPr>
              <a:t>Space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450592"/>
            <a:ext cx="6309360" cy="868680"/>
          </a:xfrm>
          <a:prstGeom prst="roundRect">
            <a:avLst>
              <a:gd name="adj" fmla="val 18000"/>
            </a:avLst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749808" y="2633472"/>
            <a:ext cx="502920" cy="502920"/>
          </a:xfrm>
          <a:prstGeom prst="ellipse">
            <a:avLst/>
          </a:prstGeom>
          <a:solidFill>
            <a:srgbClr val="219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49808" y="2633472"/>
            <a:ext cx="50292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FFFFFF"/>
                </a:solidFill>
                <a:latin typeface="Prompt"/>
                <a:ea typeface="Prompt"/>
                <a:cs typeface="Prompt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3040" y="2450592"/>
            <a:ext cx="5166360" cy="8686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700" b="0" i="0">
                <a:solidFill>
                  <a:srgbClr val="333333"/>
                </a:solidFill>
                <a:latin typeface="Prompt"/>
                <a:ea typeface="Prompt"/>
                <a:cs typeface="Prompt"/>
              </a:rPr>
              <a:t>อย่าลืมบล็อกคำสั่ง </a:t>
            </a:r>
            <a:r>
              <a:rPr sz="1700" b="1" i="0">
                <a:solidFill>
                  <a:srgbClr val="333333"/>
                </a:solidFill>
                <a:latin typeface="Prompt"/>
                <a:ea typeface="Prompt"/>
                <a:cs typeface="Prompt"/>
              </a:rPr>
              <a:t>wait</a:t>
            </a:r>
            <a:r>
              <a:rPr sz="1700" b="0" i="0">
                <a:solidFill>
                  <a:srgbClr val="333333"/>
                </a:solidFill>
                <a:latin typeface="Prompt"/>
                <a:ea typeface="Prompt"/>
                <a:cs typeface="Prompt"/>
              </a:rPr>
              <a:t> หลังบล็อกคำสั่ง If — กันการเคาะครั้งเดียวส่งปุ่มหลายครั้ง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3483864"/>
            <a:ext cx="6309360" cy="868680"/>
          </a:xfrm>
          <a:prstGeom prst="roundRect">
            <a:avLst>
              <a:gd name="adj" fmla="val 18000"/>
            </a:avLst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749808" y="3666744"/>
            <a:ext cx="502920" cy="502920"/>
          </a:xfrm>
          <a:prstGeom prst="ellipse">
            <a:avLst/>
          </a:prstGeom>
          <a:solidFill>
            <a:srgbClr val="219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49808" y="3666744"/>
            <a:ext cx="50292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FFFFFF"/>
                </a:solidFill>
                <a:latin typeface="Prompt"/>
                <a:ea typeface="Prompt"/>
                <a:cs typeface="Prompt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63040" y="3483864"/>
            <a:ext cx="5166360" cy="8686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700" b="0" i="0">
                <a:solidFill>
                  <a:srgbClr val="333333"/>
                </a:solidFill>
                <a:latin typeface="Prompt"/>
                <a:ea typeface="Prompt"/>
                <a:cs typeface="Prompt"/>
              </a:rPr>
              <a:t>ใช้บล็อกคำสั่ง </a:t>
            </a:r>
            <a:r>
              <a:rPr sz="1700" b="1" i="0">
                <a:solidFill>
                  <a:srgbClr val="333333"/>
                </a:solidFill>
                <a:latin typeface="Prompt"/>
                <a:ea typeface="Prompt"/>
                <a:cs typeface="Prompt"/>
              </a:rPr>
              <a:t>forever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4517136"/>
            <a:ext cx="6309360" cy="868680"/>
          </a:xfrm>
          <a:prstGeom prst="roundRect">
            <a:avLst>
              <a:gd name="adj" fmla="val 18000"/>
            </a:avLst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749808" y="4700016"/>
            <a:ext cx="502920" cy="502920"/>
          </a:xfrm>
          <a:prstGeom prst="ellipse">
            <a:avLst/>
          </a:prstGeom>
          <a:solidFill>
            <a:srgbClr val="219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49808" y="4700016"/>
            <a:ext cx="50292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FFFFFF"/>
                </a:solidFill>
                <a:latin typeface="Prompt"/>
                <a:ea typeface="Prompt"/>
                <a:cs typeface="Prompt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63040" y="4517136"/>
            <a:ext cx="5166360" cy="8686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700" b="1" i="0">
                <a:solidFill>
                  <a:srgbClr val="333333"/>
                </a:solidFill>
                <a:latin typeface="Prompt"/>
                <a:ea typeface="Prompt"/>
                <a:cs typeface="Prompt"/>
              </a:rPr>
              <a:t>Download</a:t>
            </a:r>
            <a:r>
              <a:rPr sz="1700" b="0" i="0">
                <a:solidFill>
                  <a:srgbClr val="333333"/>
                </a:solidFill>
                <a:latin typeface="Prompt"/>
                <a:ea typeface="Prompt"/>
                <a:cs typeface="Prompt"/>
              </a:rPr>
              <a:t> และ </a:t>
            </a:r>
            <a:r>
              <a:rPr sz="1700" b="1" i="0">
                <a:solidFill>
                  <a:srgbClr val="333333"/>
                </a:solidFill>
                <a:latin typeface="Prompt"/>
                <a:ea typeface="Prompt"/>
                <a:cs typeface="Prompt"/>
              </a:rPr>
              <a:t>Run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176744" y="1621917"/>
            <a:ext cx="4467606" cy="370560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1" name="Picture 20" descr="code-vibration-send-spac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86472" y="1731645"/>
            <a:ext cx="4248150" cy="3486150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548640" y="6473952"/>
            <a:ext cx="11094415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757575"/>
                </a:solidFill>
                <a:latin typeface="Prompt"/>
                <a:ea typeface="Prompt"/>
                <a:cs typeface="Prompt"/>
              </a:rPr>
              <a:t>กิจกรรม 2.4 — หัวข้อ 4: สร้างเกมคอนโทรลเลอร์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094415" y="6473952"/>
            <a:ext cx="54864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757575"/>
                </a:solidFill>
                <a:latin typeface="Prompt"/>
                <a:ea typeface="Prompt"/>
                <a:cs typeface="Prompt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48640" y="502920"/>
            <a:ext cx="82296" cy="566928"/>
          </a:xfrm>
          <a:prstGeom prst="rect">
            <a:avLst/>
          </a:prstGeom>
          <a:solidFill>
            <a:srgbClr val="219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04672" y="411480"/>
            <a:ext cx="10838383" cy="7772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1" i="0">
                <a:solidFill>
                  <a:srgbClr val="333333"/>
                </a:solidFill>
                <a:latin typeface="Prompt"/>
                <a:ea typeface="Prompt"/>
                <a:cs typeface="Prompt"/>
              </a:rPr>
              <a:t>ทดสอบก่อน แล้วค่อยเล่น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17320"/>
            <a:ext cx="11094415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100" b="1" i="0">
                <a:solidFill>
                  <a:srgbClr val="1565C0"/>
                </a:solidFill>
                <a:latin typeface="Prompt"/>
                <a:ea typeface="Prompt"/>
                <a:cs typeface="Prompt"/>
              </a:rPr>
              <a:t>ทดสอบปุ่มก่อน แล้วจึงเปิดเกม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2103120"/>
            <a:ext cx="11094415" cy="868680"/>
          </a:xfrm>
          <a:prstGeom prst="roundRect">
            <a:avLst>
              <a:gd name="adj" fmla="val 18000"/>
            </a:avLst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749808" y="2286000"/>
            <a:ext cx="502920" cy="502920"/>
          </a:xfrm>
          <a:prstGeom prst="ellipse">
            <a:avLst/>
          </a:prstGeom>
          <a:solidFill>
            <a:srgbClr val="219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49808" y="2286000"/>
            <a:ext cx="50292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FFFFFF"/>
                </a:solidFill>
                <a:latin typeface="Prompt"/>
                <a:ea typeface="Prompt"/>
                <a:cs typeface="Prompt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63040" y="2103120"/>
            <a:ext cx="9951415" cy="8686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700" b="0" i="0">
                <a:solidFill>
                  <a:srgbClr val="333333"/>
                </a:solidFill>
                <a:latin typeface="Prompt"/>
                <a:ea typeface="Prompt"/>
                <a:cs typeface="Prompt"/>
              </a:rPr>
              <a:t>เปิด Notepad หรือ </a:t>
            </a:r>
            <a:r>
              <a:rPr sz="1700" b="1" i="0">
                <a:solidFill>
                  <a:srgbClr val="333333"/>
                </a:solidFill>
                <a:latin typeface="Prompt"/>
                <a:ea typeface="Prompt"/>
                <a:cs typeface="Prompt"/>
              </a:rPr>
              <a:t>keyboard-test.space</a:t>
            </a:r>
            <a:r>
              <a:rPr sz="1700" b="0" i="0">
                <a:solidFill>
                  <a:srgbClr val="333333"/>
                </a:solidFill>
                <a:latin typeface="Prompt"/>
                <a:ea typeface="Prompt"/>
                <a:cs typeface="Prompt"/>
              </a:rPr>
              <a:t> — เคาะแล้วมีการส่งปุ่ม Space หรือไม่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3136392"/>
            <a:ext cx="11094415" cy="868680"/>
          </a:xfrm>
          <a:prstGeom prst="roundRect">
            <a:avLst>
              <a:gd name="adj" fmla="val 18000"/>
            </a:avLst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749808" y="3319272"/>
            <a:ext cx="502920" cy="502920"/>
          </a:xfrm>
          <a:prstGeom prst="ellipse">
            <a:avLst/>
          </a:prstGeom>
          <a:solidFill>
            <a:srgbClr val="219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49808" y="3319272"/>
            <a:ext cx="50292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FFFFFF"/>
                </a:solidFill>
                <a:latin typeface="Prompt"/>
                <a:ea typeface="Prompt"/>
                <a:cs typeface="Prompt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63040" y="3136392"/>
            <a:ext cx="9951415" cy="8686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700" b="0" i="0">
                <a:solidFill>
                  <a:srgbClr val="333333"/>
                </a:solidFill>
                <a:latin typeface="Prompt"/>
                <a:ea typeface="Prompt"/>
                <a:cs typeface="Prompt"/>
              </a:rPr>
              <a:t>เปิดเกม Dinosaur: </a:t>
            </a:r>
            <a:r>
              <a:rPr sz="1700" b="1" i="0">
                <a:solidFill>
                  <a:srgbClr val="333333"/>
                </a:solidFill>
                <a:latin typeface="Prompt"/>
                <a:ea typeface="Prompt"/>
                <a:cs typeface="Prompt"/>
              </a:rPr>
              <a:t>d.gogoboard.org/dino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4169664"/>
            <a:ext cx="11094415" cy="868680"/>
          </a:xfrm>
          <a:prstGeom prst="roundRect">
            <a:avLst>
              <a:gd name="adj" fmla="val 18000"/>
            </a:avLst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749808" y="4352544"/>
            <a:ext cx="502920" cy="502920"/>
          </a:xfrm>
          <a:prstGeom prst="ellipse">
            <a:avLst/>
          </a:prstGeom>
          <a:solidFill>
            <a:srgbClr val="219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49808" y="4352544"/>
            <a:ext cx="50292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FFFFFF"/>
                </a:solidFill>
                <a:latin typeface="Prompt"/>
                <a:ea typeface="Prompt"/>
                <a:cs typeface="Prompt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63040" y="4169664"/>
            <a:ext cx="9951415" cy="8686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700" b="0" i="0">
                <a:solidFill>
                  <a:srgbClr val="333333"/>
                </a:solidFill>
                <a:latin typeface="Prompt"/>
                <a:ea typeface="Prompt"/>
                <a:cs typeface="Prompt"/>
              </a:rPr>
              <a:t>คลิกที่หน้าต่างเกมก่อน แล้วเคาะกระดาษแข็ง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5202936"/>
            <a:ext cx="11094415" cy="868680"/>
          </a:xfrm>
          <a:prstGeom prst="roundRect">
            <a:avLst>
              <a:gd name="adj" fmla="val 18000"/>
            </a:avLst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749808" y="5385816"/>
            <a:ext cx="502920" cy="502920"/>
          </a:xfrm>
          <a:prstGeom prst="ellipse">
            <a:avLst/>
          </a:prstGeom>
          <a:solidFill>
            <a:srgbClr val="219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49808" y="5385816"/>
            <a:ext cx="50292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FFFFFF"/>
                </a:solidFill>
                <a:latin typeface="Prompt"/>
                <a:ea typeface="Prompt"/>
                <a:cs typeface="Prompt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63040" y="5202936"/>
            <a:ext cx="9951415" cy="8686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700" b="0" i="0">
                <a:solidFill>
                  <a:srgbClr val="333333"/>
                </a:solidFill>
                <a:latin typeface="Prompt"/>
                <a:ea typeface="Prompt"/>
                <a:cs typeface="Prompt"/>
              </a:rPr>
              <a:t>ไดโนเสาร์จะกระโดด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6473952"/>
            <a:ext cx="11094415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757575"/>
                </a:solidFill>
                <a:latin typeface="Prompt"/>
                <a:ea typeface="Prompt"/>
                <a:cs typeface="Prompt"/>
              </a:rPr>
              <a:t>กิจกรรม 2.4 — หัวข้อ 4: สร้างเกมคอนโทรลเลอร์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094415" y="6473952"/>
            <a:ext cx="54864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757575"/>
                </a:solidFill>
                <a:latin typeface="Prompt"/>
                <a:ea typeface="Prompt"/>
                <a:cs typeface="Prompt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48640" y="502920"/>
            <a:ext cx="82296" cy="566928"/>
          </a:xfrm>
          <a:prstGeom prst="rect">
            <a:avLst/>
          </a:prstGeom>
          <a:solidFill>
            <a:srgbClr val="219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04672" y="411480"/>
            <a:ext cx="10838383" cy="7772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1" i="0">
                <a:solidFill>
                  <a:srgbClr val="333333"/>
                </a:solidFill>
                <a:latin typeface="Prompt"/>
                <a:ea typeface="Prompt"/>
                <a:cs typeface="Prompt"/>
              </a:rPr>
              <a:t>ลองใช้เซ็นเซอร์ตัวอื่น (10 นาที)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17320"/>
            <a:ext cx="11094415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100" b="1" i="0">
                <a:solidFill>
                  <a:srgbClr val="1565C0"/>
                </a:solidFill>
                <a:latin typeface="Prompt"/>
                <a:ea typeface="Prompt"/>
                <a:cs typeface="Prompt"/>
              </a:rPr>
              <a:t>เซ็นเซอร์ในตัวบอร์ดใช้เป็นเกมคอนโทรลเลอร์ได้เช่นกัน — บล็อกคำสั่งอยู่ในหมวด Sensing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2194560"/>
          <a:ext cx="11094415" cy="170078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69813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9813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9813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66928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600" b="1" i="0">
                          <a:solidFill>
                            <a:srgbClr val="FFFFFF"/>
                          </a:solidFill>
                          <a:latin typeface="Prompt"/>
                          <a:ea typeface="Prompt"/>
                          <a:cs typeface="Prompt"/>
                        </a:rPr>
                        <a:t>เซ็นเซอร์</a:t>
                      </a:r>
                    </a:p>
                  </a:txBody>
                  <a:tcPr marL="164592" marR="164592" anchor="ctr">
                    <a:solidFill>
                      <a:srgbClr val="2196F3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600" b="1" i="0">
                          <a:solidFill>
                            <a:srgbClr val="FFFFFF"/>
                          </a:solidFill>
                          <a:latin typeface="Prompt"/>
                          <a:ea typeface="Prompt"/>
                          <a:cs typeface="Prompt"/>
                        </a:rPr>
                        <a:t>วิธีใช้งาน</a:t>
                      </a:r>
                    </a:p>
                  </a:txBody>
                  <a:tcPr marL="164592" marR="164592" anchor="ctr">
                    <a:solidFill>
                      <a:srgbClr val="2196F3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600" b="1" i="0">
                          <a:solidFill>
                            <a:srgbClr val="FFFFFF"/>
                          </a:solidFill>
                          <a:latin typeface="Prompt"/>
                          <a:ea typeface="Prompt"/>
                          <a:cs typeface="Prompt"/>
                        </a:rPr>
                        <a:t>เงื่อนไข</a:t>
                      </a:r>
                    </a:p>
                  </a:txBody>
                  <a:tcPr marL="164592" marR="164592" anchor="ctr">
                    <a:solidFill>
                      <a:srgbClr val="2196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600" b="1" i="0">
                          <a:solidFill>
                            <a:srgbClr val="333333"/>
                          </a:solidFill>
                          <a:latin typeface="Prompt"/>
                          <a:ea typeface="Prompt"/>
                          <a:cs typeface="Prompt"/>
                        </a:rPr>
                        <a:t>Accelerometer</a:t>
                      </a:r>
                    </a:p>
                  </a:txBody>
                  <a:tcPr marL="164592" marR="164592"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600" b="0" i="0">
                          <a:solidFill>
                            <a:srgbClr val="333333"/>
                          </a:solidFill>
                          <a:latin typeface="Prompt"/>
                          <a:ea typeface="Prompt"/>
                          <a:cs typeface="Prompt"/>
                        </a:rPr>
                        <a:t>เอียงหรือเขย่าบอร์ด</a:t>
                      </a:r>
                    </a:p>
                  </a:txBody>
                  <a:tcPr marL="164592" marR="164592"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600" b="0" i="0">
                          <a:solidFill>
                            <a:srgbClr val="333333"/>
                          </a:solidFill>
                          <a:latin typeface="Prompt"/>
                          <a:ea typeface="Prompt"/>
                          <a:cs typeface="Prompt"/>
                        </a:rPr>
                        <a:t>accelerometer &gt; หรือ &lt; ค่าเกณฑ์</a:t>
                      </a:r>
                    </a:p>
                  </a:txBody>
                  <a:tcPr marL="164592" marR="164592" anchor="ctr"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600" b="1" i="0">
                          <a:solidFill>
                            <a:srgbClr val="333333"/>
                          </a:solidFill>
                          <a:latin typeface="Prompt"/>
                          <a:ea typeface="Prompt"/>
                          <a:cs typeface="Prompt"/>
                        </a:rPr>
                        <a:t>เซ็นเซอร์ Lux</a:t>
                      </a:r>
                    </a:p>
                  </a:txBody>
                  <a:tcPr marL="164592" marR="16459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600" b="0" i="0">
                          <a:solidFill>
                            <a:srgbClr val="333333"/>
                          </a:solidFill>
                          <a:latin typeface="Prompt"/>
                          <a:ea typeface="Prompt"/>
                          <a:cs typeface="Prompt"/>
                        </a:rPr>
                        <a:t>ใช้มือปิดบอร์ด</a:t>
                      </a:r>
                    </a:p>
                  </a:txBody>
                  <a:tcPr marL="164592" marR="16459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600" b="0" i="0">
                          <a:solidFill>
                            <a:srgbClr val="333333"/>
                          </a:solidFill>
                          <a:latin typeface="Prompt"/>
                          <a:ea typeface="Prompt"/>
                          <a:cs typeface="Prompt"/>
                        </a:rPr>
                        <a:t>illuminance &lt; ค่าเกณฑ์</a:t>
                      </a:r>
                    </a:p>
                  </a:txBody>
                  <a:tcPr marL="164592" marR="16459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548640" y="4123944"/>
            <a:ext cx="11094415" cy="777240"/>
          </a:xfrm>
          <a:prstGeom prst="roundRect">
            <a:avLst>
              <a:gd name="adj" fmla="val 25000"/>
            </a:avLst>
          </a:prstGeom>
          <a:solidFill>
            <a:srgbClr val="FFF8E1"/>
          </a:solidFill>
          <a:ln w="12700">
            <a:solidFill>
              <a:srgbClr val="FFC10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77240" y="4123944"/>
            <a:ext cx="10637215" cy="7772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310896" indent="-310896" algn="l">
              <a:lnSpc>
                <a:spcPct val="100000"/>
              </a:lnSpc>
              <a:spcAft>
                <a:spcPts val="0"/>
              </a:spcAft>
            </a:pPr>
            <a:r>
              <a:rPr sz="1500" b="0" i="0">
                <a:solidFill>
                  <a:srgbClr val="333333"/>
                </a:solidFill>
                <a:latin typeface="Prompt"/>
                <a:ea typeface="Prompt"/>
                <a:cs typeface="Prompt"/>
              </a:rPr>
              <a:t>✎ สมุดกิจกรรม — เซ็นเซอร์ตัวไหนเหมาะสมเป็นเกมคอนโทรลเลอร์มากที่สุด บันทึกในกิจกรรม 2.4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73952"/>
            <a:ext cx="11094415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757575"/>
                </a:solidFill>
                <a:latin typeface="Prompt"/>
                <a:ea typeface="Prompt"/>
                <a:cs typeface="Prompt"/>
              </a:rPr>
              <a:t>กิจกรรม 2.4 — หัวข้อ 4: สร้างเกมคอนโทรลเลอร์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94415" y="6473952"/>
            <a:ext cx="54864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757575"/>
                </a:solidFill>
                <a:latin typeface="Prompt"/>
                <a:ea typeface="Prompt"/>
                <a:cs typeface="Prompt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FC1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371600" y="822960"/>
            <a:ext cx="944849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3400" b="1" i="0">
                <a:solidFill>
                  <a:srgbClr val="FFC107"/>
                </a:solidFill>
                <a:latin typeface="Prompt"/>
                <a:ea typeface="Prompt"/>
                <a:cs typeface="Prompt"/>
              </a:rPr>
              <a:t>ประเด็นสำคัญ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645920"/>
            <a:ext cx="9997135" cy="1828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3400" b="1" i="0">
                <a:solidFill>
                  <a:srgbClr val="FFFFFF"/>
                </a:solidFill>
                <a:latin typeface="Prompt"/>
                <a:ea typeface="Prompt"/>
                <a:cs typeface="Prompt"/>
              </a:rPr>
              <a:t>สำหรับคอมพิวเตอร์แล้ว </a:t>
            </a:r>
            <a:br/>
            <a:r>
              <a:rPr sz="3400" b="1" i="0">
                <a:solidFill>
                  <a:srgbClr val="FFFFFF"/>
                </a:solidFill>
                <a:latin typeface="Prompt"/>
                <a:ea typeface="Prompt"/>
                <a:cs typeface="Prompt"/>
              </a:rPr>
              <a:t>เซ็นเซอร์ของเราตอนนี้คือแป้นพิมพ์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209647" y="3931920"/>
            <a:ext cx="7772400" cy="2103120"/>
          </a:xfrm>
          <a:prstGeom prst="roundRect">
            <a:avLst>
              <a:gd name="adj" fmla="val 10000"/>
            </a:avLst>
          </a:prstGeom>
          <a:solidFill>
            <a:srgbClr val="1976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2758287" y="4297680"/>
            <a:ext cx="6675120" cy="1554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310896" indent="-310896">
              <a:lnSpc>
                <a:spcPct val="115000"/>
              </a:lnSpc>
              <a:spcAft>
                <a:spcPts val="1000"/>
              </a:spcAft>
            </a:pPr>
            <a:r>
              <a:rPr sz="1800" b="1" i="0">
                <a:solidFill>
                  <a:srgbClr val="2196F3"/>
                </a:solidFill>
                <a:latin typeface="Prompt"/>
                <a:ea typeface="Prompt"/>
                <a:cs typeface="Prompt"/>
              </a:rPr>
              <a:t>▸  </a:t>
            </a:r>
            <a:r>
              <a:rPr sz="1800" b="0" i="0">
                <a:solidFill>
                  <a:srgbClr val="FFFFFF"/>
                </a:solidFill>
                <a:latin typeface="Prompt"/>
                <a:ea typeface="Prompt"/>
                <a:cs typeface="Prompt"/>
              </a:rPr>
              <a:t>โปรแกรมใดที่รับปุ่มกดได้ ก็ควบคุมด้วยเซ็นเซอร์ของเราได้</a:t>
            </a:r>
          </a:p>
          <a:p>
            <a:pPr marL="310896" indent="-310896">
              <a:lnSpc>
                <a:spcPct val="115000"/>
              </a:lnSpc>
              <a:spcAft>
                <a:spcPts val="1000"/>
              </a:spcAft>
            </a:pPr>
            <a:r>
              <a:rPr sz="1800" b="1" i="0">
                <a:solidFill>
                  <a:srgbClr val="2196F3"/>
                </a:solidFill>
                <a:latin typeface="Prompt"/>
                <a:ea typeface="Prompt"/>
                <a:cs typeface="Prompt"/>
              </a:rPr>
              <a:t>▸  </a:t>
            </a:r>
            <a:r>
              <a:rPr sz="1800" b="0" i="0">
                <a:solidFill>
                  <a:srgbClr val="FFFFFF"/>
                </a:solidFill>
                <a:latin typeface="Prompt"/>
                <a:ea typeface="Prompt"/>
                <a:cs typeface="Prompt"/>
              </a:rPr>
              <a:t>เกมปุ่มเดียวเกมอื่น: Flappy Bird, Geometry Dash — d.gogoboard.org/games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73952"/>
            <a:ext cx="11094415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90CAF9"/>
                </a:solidFill>
                <a:latin typeface="Prompt"/>
                <a:ea typeface="Prompt"/>
                <a:cs typeface="Prompt"/>
              </a:rPr>
              <a:t>กิจกรรม 2.4 — หัวข้อ 4: สร้างเกมคอนโทรลเลอร์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94415" y="6473952"/>
            <a:ext cx="54864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90CAF9"/>
                </a:solidFill>
                <a:latin typeface="Prompt"/>
                <a:ea typeface="Prompt"/>
                <a:cs typeface="Prompt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48640" y="502920"/>
            <a:ext cx="82296" cy="566928"/>
          </a:xfrm>
          <a:prstGeom prst="rect">
            <a:avLst/>
          </a:prstGeom>
          <a:solidFill>
            <a:srgbClr val="219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04672" y="411480"/>
            <a:ext cx="10838383" cy="7772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1" i="0">
                <a:solidFill>
                  <a:srgbClr val="333333"/>
                </a:solidFill>
                <a:latin typeface="Prompt"/>
                <a:ea typeface="Prompt"/>
                <a:cs typeface="Prompt"/>
              </a:rPr>
              <a:t>มาสะท้อนคิดกัน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417320"/>
            <a:ext cx="11094415" cy="2926080"/>
          </a:xfrm>
          <a:prstGeom prst="roundRect">
            <a:avLst>
              <a:gd name="adj" fmla="val 8000"/>
            </a:avLst>
          </a:prstGeom>
          <a:solidFill>
            <a:srgbClr val="FFF8E1"/>
          </a:solidFill>
          <a:ln w="12700">
            <a:solidFill>
              <a:srgbClr val="FFC10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05840" y="1783080"/>
            <a:ext cx="10180015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310896" indent="-310896" algn="l">
              <a:lnSpc>
                <a:spcPct val="100000"/>
              </a:lnSpc>
              <a:spcAft>
                <a:spcPts val="0"/>
              </a:spcAft>
            </a:pPr>
            <a:r>
              <a:rPr sz="1900" b="1" i="0">
                <a:solidFill>
                  <a:srgbClr val="333333"/>
                </a:solidFill>
                <a:latin typeface="Prompt"/>
                <a:ea typeface="Prompt"/>
                <a:cs typeface="Prompt"/>
              </a:rPr>
              <a:t>✎ สมุดกิจกรรม — ตอบคำถามสะท้อนคิด 2 ข้อในกิจกรรม 2.4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80160" y="2560320"/>
            <a:ext cx="9631375" cy="1828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310896" indent="-310896">
              <a:lnSpc>
                <a:spcPct val="115000"/>
              </a:lnSpc>
              <a:spcAft>
                <a:spcPts val="1400"/>
              </a:spcAft>
            </a:pPr>
            <a:r>
              <a:rPr sz="2000" b="1" i="0">
                <a:solidFill>
                  <a:srgbClr val="2196F3"/>
                </a:solidFill>
                <a:latin typeface="Prompt"/>
                <a:ea typeface="Prompt"/>
                <a:cs typeface="Prompt"/>
              </a:rPr>
              <a:t>1.  </a:t>
            </a:r>
            <a:r>
              <a:rPr sz="2000" b="0" i="0">
                <a:solidFill>
                  <a:srgbClr val="333333"/>
                </a:solidFill>
                <a:latin typeface="Prompt"/>
                <a:ea typeface="Prompt"/>
                <a:cs typeface="Prompt"/>
              </a:rPr>
              <a:t>อธิบายขั้นตอนจากเซ็นเซอร์ไปถึงการกระทำในเกม (เขียนทีละขั้นตอน)</a:t>
            </a:r>
          </a:p>
          <a:p>
            <a:pPr marL="310896" indent="-310896">
              <a:lnSpc>
                <a:spcPct val="115000"/>
              </a:lnSpc>
              <a:spcAft>
                <a:spcPts val="1400"/>
              </a:spcAft>
            </a:pPr>
            <a:r>
              <a:rPr sz="2000" b="1" i="0">
                <a:solidFill>
                  <a:srgbClr val="2196F3"/>
                </a:solidFill>
                <a:latin typeface="Prompt"/>
                <a:ea typeface="Prompt"/>
                <a:cs typeface="Prompt"/>
              </a:rPr>
              <a:t>2.  </a:t>
            </a:r>
            <a:r>
              <a:rPr sz="2000" b="0" i="0">
                <a:solidFill>
                  <a:srgbClr val="333333"/>
                </a:solidFill>
                <a:latin typeface="Prompt"/>
                <a:ea typeface="Prompt"/>
                <a:cs typeface="Prompt"/>
              </a:rPr>
              <a:t>เกมคอนโทรลเลอร์ที่ดีเป็นอย่างไรและแบบไหนที่ทำให้ใช้ยาก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73952"/>
            <a:ext cx="11094415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757575"/>
                </a:solidFill>
                <a:latin typeface="Prompt"/>
                <a:ea typeface="Prompt"/>
                <a:cs typeface="Prompt"/>
              </a:rPr>
              <a:t>กิจกรรม 2.4 — หัวข้อ 4: สร้างเกมคอนโทรลเลอร์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94415" y="6473952"/>
            <a:ext cx="54864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757575"/>
                </a:solidFill>
                <a:latin typeface="Prompt"/>
                <a:ea typeface="Prompt"/>
                <a:cs typeface="Prompt"/>
              </a:rPr>
              <a:t>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ธีมของ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647</Words>
  <Application>Microsoft Office PowerPoint</Application>
  <PresentationFormat>แบบจอกว้าง</PresentationFormat>
  <Paragraphs>87</Paragraphs>
  <Slides>9</Slides>
  <Notes>2</Notes>
  <HiddenSlides>0</HiddenSlides>
  <MMClips>0</MMClips>
  <ScaleCrop>false</ScaleCrop>
  <HeadingPairs>
    <vt:vector size="6" baseType="variant">
      <vt:variant>
        <vt:lpstr>ฟอนต์ที่ถูกใช้</vt:lpstr>
      </vt:variant>
      <vt:variant>
        <vt:i4>4</vt:i4>
      </vt:variant>
      <vt:variant>
        <vt:lpstr>ธีม</vt:lpstr>
      </vt:variant>
      <vt:variant>
        <vt:i4>1</vt:i4>
      </vt:variant>
      <vt:variant>
        <vt:lpstr>ชื่อเรื่องสไลด์</vt:lpstr>
      </vt:variant>
      <vt:variant>
        <vt:i4>9</vt:i4>
      </vt:variant>
    </vt:vector>
  </HeadingPairs>
  <TitlesOfParts>
    <vt:vector size="14" baseType="lpstr">
      <vt:lpstr>Prompt</vt:lpstr>
      <vt:lpstr>Arial</vt:lpstr>
      <vt:lpstr>Calibri</vt:lpstr>
      <vt:lpstr>Aptos</vt:lpstr>
      <vt:lpstr>Office Theme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ARNAN SIPITAKIAT</cp:lastModifiedBy>
  <cp:revision>2</cp:revision>
  <dcterms:created xsi:type="dcterms:W3CDTF">2013-01-27T09:14:16Z</dcterms:created>
  <dcterms:modified xsi:type="dcterms:W3CDTF">2026-07-08T08:19:49Z</dcterms:modified>
  <cp:category/>
</cp:coreProperties>
</file>